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6C8EFF"/>
                </a:solidFill>
              </a:defRPr>
            </a:pPr>
            <a:r>
              <a:t>博思AI智能体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FF"/>
                </a:solidFill>
              </a:defRPr>
            </a:pPr>
            <a:r>
              <a:t>系统架构图及说明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Spring Boot + React + Redis + RabbitMQ + WebSocket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2026年8月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C8EFF"/>
                </a:solidFill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6ED"/>
                </a:solidFill>
              </a:defRPr>
            </a:pPr>
            <a:r>
              <a:t>整体架构总览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5544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五层架构与关键设计决策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6ED"/>
                </a:solidFill>
              </a:defRPr>
            </a:pPr>
            <a:r>
              <a:t>整体架构图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103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系统全景图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6ED"/>
                </a:solidFill>
              </a:defRPr>
            </a:pPr>
            <a:r>
              <a:t>前端架构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651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路由保活 · 状态管理 · WebSocket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6ED"/>
                </a:solidFill>
              </a:defRPr>
            </a:pPr>
            <a:r>
              <a:t>前端架构图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200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前端模块与调用流程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49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49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6ED"/>
                </a:solidFill>
              </a:defRPr>
            </a:pPr>
            <a:r>
              <a:t>后端架构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749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安全防护 · 聊天流程 · 跨节点通信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97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6ED"/>
                </a:solidFill>
              </a:defRPr>
            </a:pPr>
            <a:r>
              <a:t>后端架构图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2976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后端模块与调用流程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6ED"/>
                </a:solidFill>
              </a:defRPr>
            </a:pPr>
            <a:r>
              <a:t>核心调用流程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846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聊天5步流程详解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6ED"/>
                </a:solidFill>
              </a:defRPr>
            </a:pPr>
            <a:r>
              <a:t>数据存储与部署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5394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MySQL/Redis + 部署架构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436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6ED"/>
                </a:solidFill>
              </a:defRPr>
            </a:pPr>
            <a:r>
              <a:t>技术栈总结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943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完整技术选型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C8EFF"/>
                </a:solidFill>
              </a:defRPr>
            </a:pPr>
            <a:r>
              <a:t>01  整体架构总览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前后端分离 + 双实例集群 + 消息队列解耦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8EFF"/>
                </a:solidFill>
              </a:defRPr>
            </a:pPr>
            <a:r>
              <a:t>用户层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463040"/>
            <a:ext cx="9144000" cy="77724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6C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6C8EFF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React 18 SPA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BrowserRouter /chat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KeepAliveRoute 保活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ErrorBoundary 错误边界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接入层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423160"/>
            <a:ext cx="9144000" cy="77724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00D4FF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Nginx 反向代理 :8080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健康检查 max_fails=2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IP限流拦截器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proxy_next_upstream 故障转移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</a:defRPr>
            </a:pPr>
            <a:r>
              <a:t>应用层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3383280"/>
            <a:ext cx="9144000" cy="77724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A78BFA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Spring Boot 3.1.6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双实例 :8081 / :8082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JWT鉴权 + 内容安全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WebSocket STOMP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数据层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4343400"/>
            <a:ext cx="9144000" cy="77724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00D4FF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MySQL 8 数据持久化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Redis 会话跟踪+缓存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RabbitMQ 跨节点广播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AC9"/>
                </a:solidFill>
              </a:defRPr>
            </a:pPr>
            <a:r>
              <a:t>AI层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5303520"/>
            <a:ext cx="9144000" cy="77724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FF8A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FF8AC9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千问 Qwen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DeepSeek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豆包 Doubao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C8EFF"/>
                </a:solidFill>
              </a:defRPr>
            </a:pPr>
            <a:r>
              <a:t>02  整体架构图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系统全景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整体架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087" y="13716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C8EFF"/>
                </a:solidFill>
              </a:defRPr>
            </a:pPr>
            <a:r>
              <a:t>03  前端架构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路由保活 · 事件驱动状态 · WebSocket通信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57600" cy="256032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00D4FF"/>
                </a:solidFill>
              </a:defRPr>
            </a:pPr>
            <a:r>
              <a:t>入口与全局机制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main.jsx 创建根节点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ErrorBoundary 捕获渲染异常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axios 401 拦截器清登录态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window.error 异常上报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POST /api/v1/frontend-error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657600" cy="256032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00D4FF"/>
                </a:solidFill>
              </a:defRPr>
            </a:pPr>
            <a:r>
              <a:t>路由与页面保活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BrowserRouter basename=/chat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KeepAliveShell 12个常驻页面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display:none 切换保状态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EPHEMERAL_ROUTES 4个按需挂载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AUTH_REQUIRED_PAGES 登录拦截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3566160" cy="256032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00D4FF"/>
                </a:solidFill>
              </a:defRPr>
            </a:pPr>
            <a:r>
              <a:t>状态管理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useAuthUser Hook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localStorage 持久化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auth-changed 事件驱动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无需 Redux/Context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6个 localStorage Key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5486400" cy="237744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00D4FF"/>
                </a:solidFill>
              </a:defRPr>
            </a:pPr>
            <a:r>
              <a:t>WebSocket 在线跟踪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OnlinePresenceTracker 常驻顶层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SockJS → STOMP Client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publish /app/online.register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订阅 /topic/online-count/{page}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5分钟无操作自动断开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用户操作恢复自动重连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206240"/>
            <a:ext cx="5577840" cy="237744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00D4FF"/>
                </a:solidFill>
              </a:defRPr>
            </a:pPr>
            <a:r>
              <a:t>核心页面调用流程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群聊/个人: POST /messages → MQ → STOMP推送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辩论场: POST /debate → 3AI并行 → WS推送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树洞: POST /treehole/ask + JWT鉴权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监控: POST /monitor/login → Canvas绘图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首页: 在线人数 + 总用量展示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C8EFF"/>
                </a:solidFill>
              </a:defRPr>
            </a:pPr>
            <a:r>
              <a:t>04  前端架构图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前端模块与调用流程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前端架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087" y="13716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C8EFF"/>
                </a:solidFill>
              </a:defRPr>
            </a:pPr>
            <a:r>
              <a:t>05  后端架构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安全防护 · 聊天流程 · 跨节点通信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566160" cy="237744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00D4FF"/>
                </a:solidFill>
              </a:defRPr>
            </a:pPr>
            <a:r>
              <a:t>安全防护层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IpRateLimitInterceptor 滑动窗口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同IP短时过多自动拉黑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UA过滤可疑爬虫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JwtAuthenticationFilter 验证token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ContentSafetyService 阿里云内容安全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463040"/>
            <a:ext cx="3657600" cy="237744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00D4FF"/>
                </a:solidFill>
              </a:defRPr>
            </a:pPr>
            <a:r>
              <a:t>聊天处理核心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MessageController 入口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限流 → 内容安全 → 入库 → 广播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RabbitMQ 队列解耦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ChatProcessor 消费处理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3AI并发: 千问/DeepSeek/豆包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handle+AtomicInteger 避竞态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657600" cy="237744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00D4FF"/>
                </a:solidFill>
              </a:defRPr>
            </a:pPr>
            <a:r>
              <a:t>WebSocket 跨节点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WebSocketConfig /ws/chat 端点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STOMP broker /topic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SessionTracker ZSet按page分组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CrossNodeMessageListener 转发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nodeId 过滤本节点消息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SimpMessagingTemplate 推送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5394960" cy="256032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00D4FF"/>
                </a:solidFill>
              </a:defRPr>
            </a:pPr>
            <a:r>
              <a:t>在线人数统计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前端 register/unregister STOMP消息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WebSocketSessionTracker 更新Redis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ZSet: session:{page} 存userId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String: online:count:{page}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兜底扫描所有page清理残留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广播 /topic/online-count/{page}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023360"/>
            <a:ext cx="5669280" cy="256032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00D4FF"/>
                </a:solidFill>
              </a:defRPr>
            </a:pPr>
            <a:r>
              <a:t>特殊功能模块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ModelAutoChatService 定时自动问答(1h)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FrontendErrorController 接收前端异常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DebateController 3模型并行辩论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TreeHoleController JWT鉴权情绪倾诉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MonitorController 在线人数历史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5分钟无操作自动断开STOMP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C8EFF"/>
                </a:solidFill>
              </a:defRPr>
            </a:pPr>
            <a:r>
              <a:t>06  后端架构图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后端模块与调用流程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后端架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087" y="13716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C8EFF"/>
                </a:solidFill>
              </a:defRPr>
            </a:pPr>
            <a:r>
              <a:t>07  核心调用流程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用户发送问题到收到AI回复的5步流程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2194560" cy="1645920"/>
          </a:xfrm>
          <a:prstGeom prst="roundRect">
            <a:avLst/>
          </a:prstGeom>
          <a:solidFill>
            <a:srgbClr val="2D1B3D"/>
          </a:solidFill>
          <a:ln w="25400">
            <a:solidFill>
              <a:srgbClr val="FF8A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8AC9"/>
                </a:solidFill>
              </a:defRPr>
            </a:pPr>
            <a:r>
              <a:t>Step 1</a:t>
            </a:r>
          </a:p>
          <a:p>
            <a:pPr algn="ctr">
              <a:defRPr sz="1600" b="1">
                <a:solidFill>
                  <a:srgbClr val="E0E6ED"/>
                </a:solidFill>
              </a:defRPr>
            </a:pPr>
            <a:r>
              <a:t>限流检查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rateLimitService.isAllowed(userId)</a:t>
            </a:r>
            <a:br/>
            <a:r>
              <a:t>失败返回 429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51760" y="2286000"/>
            <a:ext cx="27432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360" y="1645920"/>
            <a:ext cx="2194560" cy="1645920"/>
          </a:xfrm>
          <a:prstGeom prst="roundRect">
            <a:avLst/>
          </a:prstGeom>
          <a:solidFill>
            <a:srgbClr val="2D1B3D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78BFA"/>
                </a:solidFill>
              </a:defRPr>
            </a:pPr>
            <a:r>
              <a:t>Step 2</a:t>
            </a:r>
          </a:p>
          <a:p>
            <a:pPr algn="ctr">
              <a:defRPr sz="1600" b="1">
                <a:solidFill>
                  <a:srgbClr val="E0E6ED"/>
                </a:solidFill>
              </a:defRPr>
            </a:pPr>
            <a:r>
              <a:t>内容安全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detectSensitive(question)</a:t>
            </a:r>
            <a:br/>
            <a:r>
              <a:t>命中敏感词拒绝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66360" y="2286000"/>
            <a:ext cx="27432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94960" y="1645920"/>
            <a:ext cx="2194560" cy="1645920"/>
          </a:xfrm>
          <a:prstGeom prst="roundRect">
            <a:avLst/>
          </a:prstGeom>
          <a:solidFill>
            <a:srgbClr val="2D1B3D"/>
          </a:solidFill>
          <a:ln w="25400">
            <a:solidFill>
              <a:srgbClr val="6C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C8EFF"/>
                </a:solidFill>
              </a:defRPr>
            </a:pPr>
            <a:r>
              <a:t>Step 3</a:t>
            </a:r>
          </a:p>
          <a:p>
            <a:pPr algn="ctr">
              <a:defRPr sz="1600" b="1">
                <a:solidFill>
                  <a:srgbClr val="E0E6ED"/>
                </a:solidFill>
              </a:defRPr>
            </a:pPr>
            <a:r>
              <a:t>消息入库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messageRepository.insert()</a:t>
            </a:r>
            <a:br/>
            <a:r>
              <a:t>status = queued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680960" y="2286000"/>
            <a:ext cx="27432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09560" y="1645920"/>
            <a:ext cx="2194560" cy="1645920"/>
          </a:xfrm>
          <a:prstGeom prst="roundRect">
            <a:avLst/>
          </a:prstGeom>
          <a:solidFill>
            <a:srgbClr val="2D1B3D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Step 4</a:t>
            </a:r>
          </a:p>
          <a:p>
            <a:pPr algn="ctr">
              <a:defRPr sz="1600" b="1">
                <a:solidFill>
                  <a:srgbClr val="E0E6ED"/>
                </a:solidFill>
              </a:defRPr>
            </a:pPr>
            <a:r>
              <a:t>广播+入队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broadcast /topic/public-questions</a:t>
            </a:r>
            <a:br/>
            <a:r>
              <a:t>→ RabbitMQ chat.requests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195560" y="2286000"/>
            <a:ext cx="27432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24160" y="1645920"/>
            <a:ext cx="2194560" cy="1645920"/>
          </a:xfrm>
          <a:prstGeom prst="roundRect">
            <a:avLst/>
          </a:prstGeom>
          <a:solidFill>
            <a:srgbClr val="2D1B3D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Step 5</a:t>
            </a:r>
          </a:p>
          <a:p>
            <a:pPr algn="ctr">
              <a:defRPr sz="1600" b="1">
                <a:solidFill>
                  <a:srgbClr val="E0E6ED"/>
                </a:solidFill>
              </a:defRPr>
            </a:pPr>
            <a:r>
              <a:t>AI处理+推送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ChatProcessor 3AI并发</a:t>
            </a:r>
            <a:br/>
            <a:r>
              <a:t>STOMP推送回复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11247120" cy="274320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FF8A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FF8AC9"/>
                </a:solidFill>
              </a:defRPr>
            </a:pPr>
            <a:r>
              <a:t>关键设计：handle + AtomicInteger 替代 allOf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早期版本用 CompletableFuture.allOf(...).thenAccept() 等所有模型完成统一推送，存在竞态——某模型快速失败时 allOf 可能提前触发或漏触发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改为每个 future 独立 .handle() 回调，用 AtomicInteger finishedCount 计数，任一完成立即推送，既快又稳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AI模型调用（OpenAI兼容API）: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  • 千问 Qwen   —— 群聊/辩论/个人对话，支持搜索增强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  • DeepSeek    —— 群聊/辩论，推理能力强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  • 豆包 Doubao —— 群聊/辩论，响应速度快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观点辩论场排除智谱，仅用以上三个模型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C8EFF"/>
                </a:solidFill>
              </a:defRPr>
            </a:pPr>
            <a:r>
              <a:t>08  数据存储与部署架构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237744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6C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6C8EFF"/>
                </a:solidFill>
              </a:defRPr>
            </a:pPr>
            <a:r>
              <a:t>MySQL 数据表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messages — 群聊/个人对话记录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users — 用户账号信息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model_configs — AI模型配置(provider/key/url)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online_count_records — 在线人数历史快照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treehole_messages — 情绪树洞对话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debate_records — 辩论场记录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486400" cy="237744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00D4FF"/>
                </a:solidFill>
              </a:defRPr>
            </a:pPr>
            <a:r>
              <a:t>Redis 数据结构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ZSet  session:{page} — 按页面分组的在线用户(score=时间戳)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String online:count:{page} — 各页面实时在线人数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Hash  model:cache:{reqId} — AI回复结果缓存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用途: 会话跟踪 + 结果缓存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避免重复调用AI模型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11247120" cy="2560320"/>
          </a:xfrm>
          <a:prstGeom prst="roundRect">
            <a:avLst/>
          </a:prstGeom>
          <a:solidFill>
            <a:srgbClr val="2D1B3D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500" b="1">
                <a:solidFill>
                  <a:srgbClr val="A78BFA"/>
                </a:solidFill>
              </a:defRPr>
            </a:pPr>
            <a:r>
              <a:t>部署流程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1. 前端打包: cd frontend &amp;&amp; npm run build  (vite 输出到 src/main/resources/static/chat)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2. 后端打包: mvn package -DskipTests  (生成 chat-system-project-0.0.1-SNAPSHOT.jar)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3. 上传jar:  scp -i 密钥.jar root@112.124.106.108:/opt/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4. 重启服务: ssh root@... 'bash /opt/app/restart.sh'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   ├─ 杀死旧进程 (kill -9 兜底)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   ├─ 启动8081: java -Dfile.encoding=UTF-8 -jar ... --server.port=8081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   ├─ 启动8082: java -Dfile.encoding=UTF-8 -jar ... --server.port=8082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   └─ actuator health 健康检查等待启动完成</a:t>
            </a:r>
          </a:p>
          <a:p>
            <a:pPr>
              <a:spcAft>
                <a:spcPts val="300"/>
              </a:spcAft>
              <a:defRPr sz="1100">
                <a:solidFill>
                  <a:srgbClr val="E0E6ED"/>
                </a:solidFill>
              </a:defRPr>
            </a:pPr>
            <a:r>
              <a:t>⚠ JVM 必须加 -Dfile.encoding=UTF-8 否则中文日志变 ?????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C8EFF"/>
                </a:solidFill>
              </a:defRPr>
            </a:pPr>
            <a:r>
              <a:t>09  技术栈总结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前端框架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6ED"/>
                </a:solidFill>
              </a:defRPr>
            </a:pPr>
            <a:r>
              <a:t>React 18 + React Router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前端构建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6ED"/>
                </a:solidFill>
              </a:defRPr>
            </a:pPr>
            <a:r>
              <a:t>Vite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前端通信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6ED"/>
                </a:solidFill>
              </a:defRPr>
            </a:pPr>
            <a:r>
              <a:t>SockJS + STOMP (@stomp/stompjs)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后端框架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6ED"/>
                </a:solidFill>
              </a:defRPr>
            </a:pPr>
            <a:r>
              <a:t>Spring Boot 3.1.6 (Java 17)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WebSocket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6ED"/>
                </a:solidFill>
              </a:defRPr>
            </a:pPr>
            <a:r>
              <a:t>Spring WebSocket + STOMP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消息队列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6ED"/>
                </a:solidFill>
              </a:defRPr>
            </a:pPr>
            <a:r>
              <a:t>RabbitMQ (跨节点广播)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缓存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6ED"/>
                </a:solidFill>
              </a:defRPr>
            </a:pPr>
            <a:r>
              <a:t>Redis (会话跟踪 + 结果缓存)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数据库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6ED"/>
                </a:solidFill>
              </a:defRPr>
            </a:pPr>
            <a:r>
              <a:t>MySQL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鉴权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6ED"/>
                </a:solidFill>
              </a:defRPr>
            </a:pPr>
            <a:r>
              <a:t>JWT (自实现过滤器)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内容安全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6ED"/>
                </a:solidFill>
              </a:defRPr>
            </a:pPr>
            <a:r>
              <a:t>阿里云内容安全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AI 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6ED"/>
                </a:solidFill>
              </a:defRPr>
            </a:pPr>
            <a:r>
              <a:t>千问 / DeepSeek / 豆包 (OpenAI 兼容)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反向代理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6ED"/>
                </a:solidFill>
              </a:defRPr>
            </a:pPr>
            <a:r>
              <a:t>Nginx (健康检查 + 故障转移)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部署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6ED"/>
                </a:solidFill>
              </a:defRPr>
            </a:pPr>
            <a:r>
              <a:t>双实例 + scp + shell 脚本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状态管理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6ED"/>
                </a:solidFill>
              </a:defRPr>
            </a:pPr>
            <a:r>
              <a:t>事件驱动 (auth-changed 事件)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博思AI智能体 v2.0  ·  打破人机边界，融合真人社交与AI智慧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